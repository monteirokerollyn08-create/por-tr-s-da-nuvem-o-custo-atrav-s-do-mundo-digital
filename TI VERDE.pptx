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RENATA" initials="R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<Relationship Id="rId25" Type="http://schemas.openxmlformats.org/officeDocument/2006/relationships/commentAuthors" Target="commentAuthors.xml"/>
</Relationships>
</file>

<file path=ppt/comments/comment3.xml><?xml version="1.0" encoding="utf-8"?>
<p:cmLst xmlns:p="http://schemas.openxmlformats.org/presentationml/2006/main">
  <p:cm authorId="0" dt="2022-03-18T13:54:32.123000000" idx="1">
    <p:pos x="2879" y="360"/>
    <p:text>Problemática
Justificativa
Objetivo Geral
Objetivos Específicos</p:text>
  </p:cm>
</p:cmLst>
</file>

<file path=ppt/comments/comment4.xml><?xml version="1.0" encoding="utf-8"?>
<p:cmLst xmlns:p="http://schemas.openxmlformats.org/presentationml/2006/main">
  <p:cm authorId="0" dt="2022-03-18T13:54:32.123000000" idx="2">
    <p:pos x="2879" y="360"/>
    <p:text>Problemática
Justificativa
Objetivo Geral
Objetivos Específicos</p:text>
  </p:cm>
</p:cmLst>
</file>

<file path=ppt/comments/comment5.xml><?xml version="1.0" encoding="utf-8"?>
<p:cmLst xmlns:p="http://schemas.openxmlformats.org/presentationml/2006/main">
  <p:cm authorId="0" dt="2022-03-18T13:55:59.687000000" idx="3">
    <p:pos x="6838" y="720"/>
    <p:text>NÃO MUDAR ESSA FRASE: é uma abordagem qualitativa, de natureza teórica, sem procedimentos práticos e baseados em referenciais teóricos.</p:text>
  </p:cm>
</p:cmLst>
</file>

<file path=ppt/comments/comment6.xml><?xml version="1.0" encoding="utf-8"?>
<p:cmLst xmlns:p="http://schemas.openxmlformats.org/presentationml/2006/main">
  <p:cm authorId="0" dt="2022-03-18T13:59:15.731000000" idx="4">
    <p:pos x="2879" y="360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7.xml><?xml version="1.0" encoding="utf-8"?>
<p:cmLst xmlns:p="http://schemas.openxmlformats.org/presentationml/2006/main">
  <p:cm authorId="0" dt="2022-03-18T13:59:15.731000000" idx="5">
    <p:pos x="2879" y="360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8.xml><?xml version="1.0" encoding="utf-8"?>
<p:cmLst xmlns:p="http://schemas.openxmlformats.org/presentationml/2006/main">
  <p:cm authorId="0" dt="2022-03-18T14:01:17.556000000" idx="6">
    <p:pos x="4679" y="720"/>
    <p:text>Relevância da pesquisa
Proposição de outros estudos e dos estudos práticos (desenvolvimento do sistema)</p:text>
  </p:cm>
</p:cmLst>
</file>

<file path=ppt/comments/comment9.xml><?xml version="1.0" encoding="utf-8"?>
<p:cmLst xmlns:p="http://schemas.openxmlformats.org/presentationml/2006/main">
  <p:cm authorId="0" dt="2022-03-18T14:02:14.520000000" idx="7">
    <p:pos x="3239" y="360"/>
    <p:text>As utilizadas no resumo
somentes as citadas no resumo. No formato ABNT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1635E4-140F-4C7B-BA3A-E96D35FDBE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169BD5-D14B-4E50-B5C8-D89FCC651B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43EC4F-F130-4FB8-82A7-79D3F34361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BB7580E-E22C-4A59-8243-2FEE42FE8C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7B3D8B-D997-470A-A822-1882C593B7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587D93-7D67-423A-8ABC-6749B0CAB401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DFC207-9827-45B8-81F7-6BA0635430CD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anchorCtr="1" vert="eaVert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9E5881-3C3A-4A36-8871-782ED2F4F1AE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66EA12-CAAE-4A47-B183-AA34CB8ECBBE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Clique para editar os estilos de texto Mestres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F08F1A-2314-457A-A855-7CAF0C7369C3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096D40-0C96-4729-BA3E-17850AD73612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pt-BR" sz="24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22AB73-DABB-43EB-8A3B-E42A861B4F02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80A57A-FD2E-4DFA-9090-77B107F8CD1B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D5000C-0BC2-47D0-A2C0-998F91B5D280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32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1BB204D-8AE4-4676-A943-1B947C522AD0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3200" spc="-1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pc="-1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b="0" lang="pt-B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91EFC3-7760-45F8-A748-E6F8D5608F5C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comments" Target="../comments/commen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comments" Target="../comments/commen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comments" Target="../comments/commen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comments" Target="../comments/commen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comments" Target="../comments/commen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comments" Target="../comments/commen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https://doi.org/10.21712/lajer.2025.v12.n4.p73-82" TargetMode="External"/><Relationship Id="rId3" Type="http://schemas.openxmlformats.org/officeDocument/2006/relationships/hyperlink" Target="https://doi.org/10.55905/rdelosv18.n75-008" TargetMode="External"/><Relationship Id="rId4" Type="http://schemas.openxmlformats.org/officeDocument/2006/relationships/hyperlink" Target="https://revistas.fucamp.edu.br/index.php/direito-realidade/article/view/4036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5.xml"/><Relationship Id="rId8" Type="http://schemas.openxmlformats.org/officeDocument/2006/relationships/comments" Target="../comments/commen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buNone/>
            </a:pPr>
            <a:endParaRPr b="0" lang="pt-BR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buNone/>
            </a:pP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0" name="Imagem 4" descr="Gráfico, Gráfico de funil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36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71" name="Imagem 8" descr="Logotipo&#10;&#10;Descrição gerada automaticamente com confiança baixa"/>
          <p:cNvPicPr/>
          <p:nvPr/>
        </p:nvPicPr>
        <p:blipFill>
          <a:blip r:embed="rId2"/>
          <a:stretch/>
        </p:blipFill>
        <p:spPr>
          <a:xfrm>
            <a:off x="6751800" y="2763720"/>
            <a:ext cx="4433400" cy="132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73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>
            <a:off x="360" y="36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4" name="Text Box 9"/>
          <p:cNvSpPr/>
          <p:nvPr/>
        </p:nvSpPr>
        <p:spPr>
          <a:xfrm>
            <a:off x="936720" y="2844720"/>
            <a:ext cx="42620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Por trás da nuvem: o custo oculto do mundo digital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Box 9"/>
          <p:cNvSpPr/>
          <p:nvPr/>
        </p:nvSpPr>
        <p:spPr>
          <a:xfrm>
            <a:off x="7927560" y="2237400"/>
            <a:ext cx="3234600" cy="22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Profa. Isabella Luiza Dos Santos Souza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  </a:t>
            </a: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- Arthur André Campos Nascimento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  </a:t>
            </a: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- Gabriel Medeiro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  </a:t>
            </a: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- Giovanna Lopes de Carvalho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  </a:t>
            </a: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- Igor Luiz Maciel de Lima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  </a:t>
            </a:r>
            <a:r>
              <a:rPr b="0" lang="pt-BR" sz="12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- Kerollyn Monteiro Costa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Box 9"/>
          <p:cNvSpPr/>
          <p:nvPr/>
        </p:nvSpPr>
        <p:spPr>
          <a:xfrm>
            <a:off x="8693280" y="6026400"/>
            <a:ext cx="30448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pc="-1" strike="noStrike">
                <a:solidFill>
                  <a:schemeClr val="lt1"/>
                </a:solidFill>
                <a:latin typeface="Verdana"/>
                <a:ea typeface="ＭＳ Ｐゴシック"/>
              </a:rPr>
              <a:t>Ciência da Computação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Box 9"/>
          <p:cNvSpPr/>
          <p:nvPr/>
        </p:nvSpPr>
        <p:spPr>
          <a:xfrm rot="21580200">
            <a:off x="720360" y="4335120"/>
            <a:ext cx="5220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000" spc="-1" strike="noStrike">
                <a:solidFill>
                  <a:srgbClr val="ff0000"/>
                </a:solidFill>
                <a:latin typeface="Verdana"/>
                <a:ea typeface="ＭＳ Ｐゴシック"/>
              </a:rPr>
              <a:t>Data centers, TI Verde e eficiência energética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4528440" y="5931000"/>
            <a:ext cx="1341000" cy="402840"/>
          </a:xfrm>
          <a:prstGeom prst="rect">
            <a:avLst/>
          </a:prstGeom>
          <a:ln w="0">
            <a:noFill/>
          </a:ln>
        </p:spPr>
      </p:pic>
      <p:sp>
        <p:nvSpPr>
          <p:cNvPr id="79" name="Retângulo 1"/>
          <p:cNvSpPr/>
          <p:nvPr/>
        </p:nvSpPr>
        <p:spPr>
          <a:xfrm>
            <a:off x="10309320" y="5254200"/>
            <a:ext cx="897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1" lang="pt-BR" sz="18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2026.1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81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36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82" name="Rectangle 7"/>
          <p:cNvSpPr/>
          <p:nvPr/>
        </p:nvSpPr>
        <p:spPr>
          <a:xfrm>
            <a:off x="506520" y="1984320"/>
            <a:ext cx="6130440" cy="36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pt-BR" sz="2600" spc="-1" strike="noStrike">
                <a:solidFill>
                  <a:schemeClr val="dk1"/>
                </a:solidFill>
                <a:latin typeface="Verdana"/>
                <a:ea typeface="Verdana"/>
              </a:rPr>
              <a:t> </a:t>
            </a:r>
            <a:r>
              <a:rPr b="0" lang="pt-BR" sz="2400" spc="-1" strike="noStrike">
                <a:solidFill>
                  <a:schemeClr val="dk1"/>
                </a:solidFill>
                <a:latin typeface="Verdana"/>
                <a:ea typeface="Verdana"/>
              </a:rPr>
              <a:t>Problemática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Alto consumo de energia e refrigeração contínua.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Impactos ambientais dos data centers.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Dificuldades na adoção do TI Verde.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pt-BR" sz="2600" spc="-1" strike="noStrike">
                <a:solidFill>
                  <a:schemeClr val="dk1"/>
                </a:solidFill>
                <a:latin typeface="Verdana"/>
                <a:ea typeface="Verdana"/>
              </a:rPr>
              <a:t> </a:t>
            </a:r>
            <a:r>
              <a:rPr b="0" lang="pt-BR" sz="2200" spc="-1" strike="noStrike">
                <a:solidFill>
                  <a:schemeClr val="dk1"/>
                </a:solidFill>
                <a:latin typeface="Verdana"/>
                <a:ea typeface="Verdana"/>
              </a:rPr>
              <a:t>J</a:t>
            </a:r>
            <a:r>
              <a:rPr b="0" lang="pt-BR" sz="2600" spc="-1" strike="noStrike">
                <a:solidFill>
                  <a:schemeClr val="dk1"/>
                </a:solidFill>
                <a:latin typeface="Verdana"/>
                <a:ea typeface="Verdana"/>
              </a:rPr>
              <a:t>ustificativa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Crescimento dos data centers.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Consumo de recursos naturais.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Emissões de carbono e ruídos.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1000" cy="402840"/>
          </a:xfrm>
          <a:prstGeom prst="rect">
            <a:avLst/>
          </a:prstGeom>
          <a:ln w="0">
            <a:noFill/>
          </a:ln>
        </p:spPr>
      </p:pic>
      <p:sp>
        <p:nvSpPr>
          <p:cNvPr id="84" name="Text Box 9"/>
          <p:cNvSpPr/>
          <p:nvPr/>
        </p:nvSpPr>
        <p:spPr>
          <a:xfrm>
            <a:off x="506520" y="606600"/>
            <a:ext cx="4262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INTRODUÇÃO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86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36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87" name="Rectangle 7"/>
          <p:cNvSpPr/>
          <p:nvPr/>
        </p:nvSpPr>
        <p:spPr>
          <a:xfrm>
            <a:off x="506520" y="1984320"/>
            <a:ext cx="6130440" cy="36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2600" spc="-1" strike="noStrike">
                <a:solidFill>
                  <a:schemeClr val="dk1"/>
                </a:solidFill>
                <a:latin typeface="Verdana"/>
                <a:ea typeface="Verdana"/>
              </a:rPr>
              <a:t>Objetivo geral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Analisar</a:t>
            </a:r>
            <a:r>
              <a:rPr b="0" lang="pt-BR" sz="1400" spc="-1" strike="noStrike">
                <a:solidFill>
                  <a:schemeClr val="dk1"/>
                </a:solidFill>
                <a:latin typeface="Verdana"/>
                <a:ea typeface="Verdana"/>
              </a:rPr>
              <a:t> </a:t>
            </a: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os impactos ambientais do consumo de energia, da refrigeração e dos ruídos.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Identificar práticas de TI Verde para reduzir esses impactos.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2600" spc="-1" strike="noStrike">
                <a:solidFill>
                  <a:schemeClr val="dk1"/>
                </a:solidFill>
                <a:latin typeface="Verdana"/>
                <a:ea typeface="Verdana"/>
              </a:rPr>
              <a:t>Objetivos específicos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Analisar o consumo de energia e a refrigeração.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Investigar os impactos relacionados aos ruídos.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Identificar práticas de TI Verde.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Avaliar limites e desafios de implementação.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1000" cy="402840"/>
          </a:xfrm>
          <a:prstGeom prst="rect">
            <a:avLst/>
          </a:prstGeom>
          <a:ln w="0">
            <a:noFill/>
          </a:ln>
        </p:spPr>
      </p:pic>
      <p:sp>
        <p:nvSpPr>
          <p:cNvPr id="89" name="Text Box 9"/>
          <p:cNvSpPr/>
          <p:nvPr/>
        </p:nvSpPr>
        <p:spPr>
          <a:xfrm>
            <a:off x="506520" y="606600"/>
            <a:ext cx="4262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INTRODUÇÃO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91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2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10242720" y="6031080"/>
            <a:ext cx="1341000" cy="402840"/>
          </a:xfrm>
          <a:prstGeom prst="rect">
            <a:avLst/>
          </a:prstGeom>
          <a:ln w="0">
            <a:noFill/>
          </a:ln>
        </p:spPr>
      </p:pic>
      <p:sp>
        <p:nvSpPr>
          <p:cNvPr id="93" name="Text Box 9"/>
          <p:cNvSpPr/>
          <p:nvPr/>
        </p:nvSpPr>
        <p:spPr>
          <a:xfrm>
            <a:off x="5630040" y="777960"/>
            <a:ext cx="52830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METODOLOGIA/MÉTODO DA PESQUISA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 7"/>
          <p:cNvSpPr/>
          <p:nvPr/>
        </p:nvSpPr>
        <p:spPr>
          <a:xfrm>
            <a:off x="5630040" y="2719440"/>
            <a:ext cx="613044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0" lang="pt-BR" sz="1800" spc="-1" strike="noStrike">
                <a:solidFill>
                  <a:schemeClr val="dk1"/>
                </a:solidFill>
                <a:latin typeface="Segoe UI"/>
              </a:rPr>
              <a:t>É uma abordagem qualitativa, de natureza teórica, sem procedimentos práticos e baseados em referenciais teóricos.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36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6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1000" cy="402840"/>
          </a:xfrm>
          <a:prstGeom prst="rect">
            <a:avLst/>
          </a:prstGeom>
          <a:ln w="0">
            <a:noFill/>
          </a:ln>
        </p:spPr>
      </p:pic>
      <p:sp>
        <p:nvSpPr>
          <p:cNvPr id="97" name="Text Box 9"/>
          <p:cNvSpPr/>
          <p:nvPr/>
        </p:nvSpPr>
        <p:spPr>
          <a:xfrm>
            <a:off x="506520" y="606600"/>
            <a:ext cx="42620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FUNDAMENTAÇÃO TEÓRICA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7"/>
          <p:cNvSpPr/>
          <p:nvPr/>
        </p:nvSpPr>
        <p:spPr>
          <a:xfrm>
            <a:off x="506520" y="2160000"/>
            <a:ext cx="6130440" cy="36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Consumo de energia e refrigeração: Lima e Barbosa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Eficiência energética em data centers: Lima e Barbosa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Indicadores de eficiência e consumo de água: Prieto et al.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Energia renovável e resfriamento </a:t>
            </a:r>
            <a:r>
              <a:rPr b="0" lang="pt-BR" sz="1400" spc="-1" strike="noStrike">
                <a:solidFill>
                  <a:schemeClr val="dk1"/>
                </a:solidFill>
                <a:latin typeface="Verdana"/>
                <a:ea typeface="Verdana"/>
              </a:rPr>
              <a:t>eficiente</a:t>
            </a: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: Prieto et al.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Computação verde e políticas públicas: Nusdeo et al.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36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0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1000" cy="402840"/>
          </a:xfrm>
          <a:prstGeom prst="rect">
            <a:avLst/>
          </a:prstGeom>
          <a:ln w="0">
            <a:noFill/>
          </a:ln>
        </p:spPr>
      </p:pic>
      <p:sp>
        <p:nvSpPr>
          <p:cNvPr id="101" name="Text Box 9"/>
          <p:cNvSpPr/>
          <p:nvPr/>
        </p:nvSpPr>
        <p:spPr>
          <a:xfrm>
            <a:off x="506520" y="606600"/>
            <a:ext cx="42620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FUNDAMENTAÇÃO TEÓRICA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7"/>
          <p:cNvSpPr/>
          <p:nvPr/>
        </p:nvSpPr>
        <p:spPr>
          <a:xfrm>
            <a:off x="529560" y="2293920"/>
            <a:ext cx="6130440" cy="36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Crescimento</a:t>
            </a:r>
            <a:r>
              <a:rPr b="0" lang="pt-BR" sz="1600" spc="-1" strike="noStrike">
                <a:solidFill>
                  <a:schemeClr val="dk1"/>
                </a:solidFill>
                <a:latin typeface="Verdana"/>
                <a:ea typeface="Verdana"/>
              </a:rPr>
              <a:t> </a:t>
            </a: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do consumo energético com a IA: Prieto et al.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Eficiência energética e impacto ambiental: Prieto et al.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Regulamentação ambiental brasileira: Nusdeo et al.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Virtualização e equipamentos sustentáveis: Nusdeo et al. (2025).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Lacunas de pesquisa sobre ruídos: estudos analisados.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4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10298160" y="6154560"/>
            <a:ext cx="1341000" cy="402840"/>
          </a:xfrm>
          <a:prstGeom prst="rect">
            <a:avLst/>
          </a:prstGeom>
          <a:ln w="0">
            <a:noFill/>
          </a:ln>
        </p:spPr>
      </p:pic>
      <p:sp>
        <p:nvSpPr>
          <p:cNvPr id="105" name="Text Box 9"/>
          <p:cNvSpPr/>
          <p:nvPr/>
        </p:nvSpPr>
        <p:spPr>
          <a:xfrm>
            <a:off x="5508720" y="844560"/>
            <a:ext cx="42620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CONSIDERAÇÕES FINAIS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7"/>
          <p:cNvSpPr/>
          <p:nvPr/>
        </p:nvSpPr>
        <p:spPr>
          <a:xfrm>
            <a:off x="5508720" y="2520000"/>
            <a:ext cx="6130440" cy="36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Práticas de TI Verde contribuem para reduzir impactos ambientais.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A eficiência não garante a redução do consumo total.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O crescimento da demanda aumenta os desafios ambientais.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Lacunas regulatórias dificultam o controle dos recursos naturais.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300" spc="-1" strike="noStrike">
                <a:solidFill>
                  <a:schemeClr val="dk1"/>
                </a:solidFill>
                <a:latin typeface="Verdana"/>
                <a:ea typeface="Verdana"/>
              </a:rPr>
              <a:t>Novas pesquisas devem investigar ruídos e alternativas sustentáveis.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108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1210824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09" name="Rectangle 7"/>
          <p:cNvSpPr/>
          <p:nvPr/>
        </p:nvSpPr>
        <p:spPr>
          <a:xfrm>
            <a:off x="506520" y="1980000"/>
            <a:ext cx="613044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</a:rPr>
              <a:t>REFERÊNCIA DAS CITAÇÕES UTILIZADAS NO RESUMO. NO FORMATO 1. LIMA, Rodrigo Santiago do Nascimento; BARBOSA, Andréa Teresa Riccio. Estratégia de eficiência energética em data centers: revisão sistemática. Latin American Journal of Energy Research, v. 12, n. 4, p. 73–82, 2025. DOI: </a:t>
            </a: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  <a:hlinkClick r:id="rId2"/>
              </a:rPr>
              <a:t>https://doi.org/10.21712/lajer.2025.v12.n4.p73-82</a:t>
            </a: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</a:rPr>
              <a:t>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</a:rPr>
              <a:t>2. PRIETO, Ricardo Brito Ponticceli et al. Sustentabilidade energética e ambiental em datacenters de inteligência artificial: estudo de caso Google Data Centers (2024–2025). Revista DELOS, Curitiba, v. 18, n. 75, e7760, 2025. DOI: </a:t>
            </a: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  <a:hlinkClick r:id="rId3"/>
              </a:rPr>
              <a:t>https://doi.org/10.55905/rdelosv18.n75-008</a:t>
            </a: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</a:rPr>
              <a:t>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</a:rPr>
              <a:t>3. NUSDEO, Ana Maria de Oliveira et al. O Brasil como polo de data centers de IA no Sul Global: limites regulatórios e riscos socioambientais. Revista Jurídica Direito &amp; Realidade, v. 16, 2025. Disponível em: </a:t>
            </a: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  <a:hlinkClick r:id="rId4"/>
              </a:rPr>
              <a:t>https://revistas.fucamp.edu.br/index.php/direito-realidade/article/view/4036</a:t>
            </a:r>
            <a:r>
              <a:rPr b="0" lang="pt-BR" sz="1200" spc="-1" strike="noStrike">
                <a:solidFill>
                  <a:schemeClr val="dk1"/>
                </a:solidFill>
                <a:latin typeface="Verdana"/>
                <a:ea typeface="Verdana"/>
              </a:rPr>
              <a:t>. Acesso em: 6 out. 2026.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Imagem 6" descr="Logotipo&#10;&#10;Descrição gerada automaticamente com confiança média"/>
          <p:cNvPicPr/>
          <p:nvPr/>
        </p:nvPicPr>
        <p:blipFill>
          <a:blip r:embed="rId5"/>
          <a:stretch/>
        </p:blipFill>
        <p:spPr>
          <a:xfrm>
            <a:off x="5508720" y="6031080"/>
            <a:ext cx="1341000" cy="402840"/>
          </a:xfrm>
          <a:prstGeom prst="rect">
            <a:avLst/>
          </a:prstGeom>
          <a:ln w="0">
            <a:noFill/>
          </a:ln>
        </p:spPr>
      </p:pic>
      <p:sp>
        <p:nvSpPr>
          <p:cNvPr id="111" name="Text Box 9"/>
          <p:cNvSpPr/>
          <p:nvPr/>
        </p:nvSpPr>
        <p:spPr>
          <a:xfrm>
            <a:off x="570600" y="844560"/>
            <a:ext cx="42620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REFERÊNCIA BIBLIOGRÁFICA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Espaço Reservado para Conteúdo 1" descr="Gráfico, Gráfico de barras&#10;&#10;Descrição gerada automaticamente"/>
          <p:cNvPicPr/>
          <p:nvPr/>
        </p:nvPicPr>
        <p:blipFill>
          <a:blip r:embed="rId6"/>
          <a:stretch/>
        </p:blipFill>
        <p:spPr>
          <a:xfrm>
            <a:off x="0" y="36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 txBox="1"/>
          <p:nvPr/>
        </p:nvSpPr>
        <p:spPr>
          <a:xfrm>
            <a:off x="5400000" y="900000"/>
            <a:ext cx="4737600" cy="112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b="1" lang="pt-BR" sz="3000" spc="-1" strike="noStrike">
                <a:solidFill>
                  <a:srgbClr val="153553"/>
                </a:solidFill>
                <a:latin typeface="Verdana"/>
                <a:ea typeface="ＭＳ Ｐゴシック"/>
              </a:rPr>
              <a:t>REFERÊNCIAS BIBLIOGRÁFICA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400000" y="2307600"/>
            <a:ext cx="9000000" cy="30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1. LIMA, Rodrigo Santiago do Nascimento; BARBOSA, Andréa Teresa Riccio. Estratégia de eficiência energética em data centers: revisão sistemática. Latin American Journal of Energy Research, v. 12, n. 4, p. 73–82, 2025. DOI: https://doi.org/10.21712/lajer.2025.v12.n4.p73-82.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2. PRIETO, Ricardo Brito Ponticceli et al. Sustentabilidade energética e ambiental em datacenters de inteligência artificial: estudo de caso Google Data Centers (2024–2025). Revista DELOS, Curitiba, v. 18, n. 75, e7760, 2025. DOI: https://doi.org/10.55905/rdelosv18.n75-008.</a:t>
            </a:r>
            <a:endParaRPr b="0" lang="pt-BR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3. NUSDEO, Ana Maria de Oliveira et al. O Brasil como polo de data centers de IA no Sul Global: limites regulatórios e riscos socioambientais. Revista Jurídica Direito &amp; Realidade, v. 16, 2025. Disponível em: https://revistas.fucamp.edu.br/index.php/direito-realidade/article/view/4036. Acesso em: 6 out. 2026.</a:t>
            </a:r>
            <a:endParaRPr b="0" lang="pt-BR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116" name="Espaço Reservado para Conteúdo 4" descr="Uma imagem contendo Retângulo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7" name="Text Box 6"/>
          <p:cNvSpPr/>
          <p:nvPr/>
        </p:nvSpPr>
        <p:spPr>
          <a:xfrm>
            <a:off x="2743200" y="2471760"/>
            <a:ext cx="6705360" cy="13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i="1" lang="en-US" sz="2200" spc="-1" strike="noStrike">
                <a:solidFill>
                  <a:schemeClr val="lt1"/>
                </a:solidFill>
                <a:latin typeface="Verdana"/>
              </a:rPr>
              <a:t>“</a:t>
            </a:r>
            <a:r>
              <a:rPr b="0" i="1" lang="en-US" sz="2200" spc="-1" strike="noStrike">
                <a:solidFill>
                  <a:schemeClr val="lt1"/>
                </a:solidFill>
                <a:latin typeface="Verdana"/>
              </a:rPr>
              <a:t>Agradecemos à professora orientadora e a todos que contribuíram para a realização desta pesquisa.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i="1" lang="en-US" sz="2200" spc="-1" strike="noStrike">
                <a:solidFill>
                  <a:schemeClr val="lt1"/>
                </a:solidFill>
                <a:latin typeface="Verdana"/>
              </a:rPr>
              <a:t>Obrigado pela atenção!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119" name="Espaço Reservado para Conteúdo 4" descr="Uma imagem contendo Forma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20" name="Imagem 6" descr="Logotipo&#10;&#10;Descrição gerada automaticamente com confiança baixa"/>
          <p:cNvPicPr/>
          <p:nvPr/>
        </p:nvPicPr>
        <p:blipFill>
          <a:blip r:embed="rId2"/>
          <a:stretch/>
        </p:blipFill>
        <p:spPr>
          <a:xfrm>
            <a:off x="1236600" y="2763720"/>
            <a:ext cx="4433400" cy="132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2021-05-14T17:32:15Z</dcterms:created>
  <dc:creator>Criação 04</dc:creator>
  <dc:description/>
  <dc:language>pt-BR</dc:language>
  <cp:lastModifiedBy/>
  <dcterms:modified xsi:type="dcterms:W3CDTF">2026-10-10T22:10:48Z</dcterms:modified>
  <cp:revision>22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11</vt:r8>
  </property>
</Properties>
</file>